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6D"/>
                </a:solidFill>
                <a:latin typeface="Calibri"/>
              </a:defRPr>
            </a:pPr>
            <a:r>
              <a:t>Set-Theoretic Abstraction in Bitmap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Why treating BitmapView as a first-class mathematical object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bitmap_raw  — Passive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BitmapView is just the return type of view()</a:t>
            </a:r>
          </a:p>
          <a:p>
            <a:pPr>
              <a:spcAft>
                <a:spcPts val="4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All predicates &amp; lemmas live on Bitmap (concrete)</a:t>
            </a:r>
          </a:p>
          <a:p>
            <a:pPr>
              <a:spcAft>
                <a:spcPts val="4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Abstract lemmas require inv() (full concrete invariant)</a:t>
            </a:r>
          </a:p>
          <a:p>
            <a:pPr>
              <a:spcAft>
                <a:spcPts val="4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is_bit_set defined on BOTH types → bridging lemma needed</a:t>
            </a:r>
          </a:p>
          <a:p>
            <a:pPr>
              <a:spcAft>
                <a:spcPts val="4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~1169 lines of proofs, all on impl Bitmap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40480"/>
            <a:ext cx="5029200" cy="1828800"/>
          </a:xfrm>
          <a:prstGeom prst="rect">
            <a:avLst/>
          </a:prstGeom>
          <a:solidFill>
            <a:srgbClr val="F5F5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77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bitmap_raw: specs on concrete Bitmap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466344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2A"/>
                </a:solidFill>
                <a:latin typeface="Consolas"/>
              </a:defRPr>
            </a:pPr>
            <a:r>
              <a:t>// Predicate bound to Bitmap</a:t>
            </a:r>
            <a:br/>
            <a:r>
              <a:t>impl Bitmap {</a:t>
            </a:r>
            <a:br/>
            <a:r>
              <a:t>  pub open spec fn has_free_range_at(</a:t>
            </a:r>
            <a:br/>
            <a:r>
              <a:t>    &amp;self, start: int, n: int</a:t>
            </a:r>
            <a:br/>
            <a:r>
              <a:t>  ) -&gt; bool {</a:t>
            </a:r>
            <a:br/>
            <a:r>
              <a:t>    self.all_bits_unset_in_range(start, start+n)</a:t>
            </a:r>
            <a:br/>
            <a:r>
              <a:t>  }</a:t>
            </a:r>
            <a:br/>
            <a:r>
              <a:t>  // Lemma requires inv()</a:t>
            </a:r>
            <a:br/>
            <a:r>
              <a:t>  proof fn lemma_usage_bound(&amp;self, p, n)</a:t>
            </a:r>
            <a:br/>
            <a:r>
              <a:t>    requires self.inv(), ...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7D34"/>
                </a:solidFill>
                <a:latin typeface="Calibri"/>
              </a:defRPr>
            </a:pPr>
            <a:r>
              <a:t>bitmap_new  — Active Specification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BitmapView is a self-contained mathematical object</a:t>
            </a:r>
          </a:p>
          <a:p>
            <a:pPr>
              <a:spcAft>
                <a:spcPts val="4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Predicates &amp; abstract lemmas live on BitmapView</a:t>
            </a:r>
          </a:p>
          <a:p>
            <a:pPr>
              <a:spcAft>
                <a:spcPts val="4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Abstract lemmas require only wf() (pure set constraint)</a:t>
            </a:r>
          </a:p>
          <a:p>
            <a:pPr>
              <a:spcAft>
                <a:spcPts val="4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is_bit_set defined ONCE on BitmapView — no bridging</a:t>
            </a:r>
          </a:p>
          <a:p>
            <a:pPr>
              <a:spcAft>
                <a:spcPts val="4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~716 lines of proofs on Bitmap + ~394 on BitmapView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840480"/>
            <a:ext cx="5303520" cy="1828800"/>
          </a:xfrm>
          <a:prstGeom prst="rect">
            <a:avLst/>
          </a:prstGeom>
          <a:solidFill>
            <a:srgbClr val="F5F5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97764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D34"/>
                </a:solidFill>
                <a:latin typeface="Calibri"/>
              </a:defRPr>
            </a:pPr>
            <a:r>
              <a:t>bitmap_new: specs on abstract BitmapView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51960"/>
            <a:ext cx="4937759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2A"/>
                </a:solidFill>
                <a:latin typeface="Consolas"/>
              </a:defRPr>
            </a:pPr>
            <a:r>
              <a:t>// Predicate on abstract model</a:t>
            </a:r>
            <a:br/>
            <a:r>
              <a:t>impl BitmapView {</a:t>
            </a:r>
            <a:br/>
            <a:r>
              <a:t>  pub open spec fn has_free_range_at(</a:t>
            </a:r>
            <a:br/>
            <a:r>
              <a:t>    &amp;self, start: int, n: int</a:t>
            </a:r>
            <a:br/>
            <a:r>
              <a:t>  ) -&gt; bool {</a:t>
            </a:r>
            <a:br/>
            <a:r>
              <a:t>    self.all_bits_unset_in_range(start, start+n)</a:t>
            </a:r>
            <a:br/>
            <a:r>
              <a:t>  }</a:t>
            </a:r>
            <a:br/>
            <a:r>
              <a:t>  // Lemma requires only wf()</a:t>
            </a:r>
            <a:br/>
            <a:r>
              <a:t>  proof fn lemma_usage_bound(&amp;self, p, n)</a:t>
            </a:r>
            <a:br/>
            <a:r>
              <a:t>    requires self.wf(), ...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7A6D"/>
                </a:solidFill>
                <a:latin typeface="Calibri"/>
              </a:defRPr>
            </a:pPr>
            <a:r>
              <a:t>"The view is a projection of the struct"  vs  "The struct is a realization of the model"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6D"/>
                </a:solidFill>
                <a:latin typeface="Calibri"/>
              </a:defRPr>
            </a:pPr>
            <a:r>
              <a:t>Key Advantages of Set-Theoretic Abstraction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5C9E"/>
                </a:solidFill>
                <a:latin typeface="Calibri"/>
              </a:defRPr>
            </a:pPr>
            <a:r>
              <a:t>① Representation Independence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D2D2D"/>
                </a:solidFill>
                <a:latin typeface="Calibri"/>
              </a:defRPr>
            </a:pPr>
            <a:r>
              <a:t>Swap RawArray&lt;u8&gt; → Vec&lt;u64&gt;?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7D34"/>
                </a:solidFill>
                <a:latin typeface="Calibri"/>
              </a:defRPr>
            </a:pPr>
            <a:r>
              <a:t>15+ abstract lemmas survive unchanged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Only re-prove byte↔set coupling</a:t>
            </a:r>
          </a:p>
          <a:p>
            <a:pPr>
              <a:spcAft>
                <a:spcPts val="400"/>
              </a:spcAft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C0392B"/>
                </a:solidFill>
                <a:latin typeface="Calibri"/>
              </a:defRPr>
            </a:pPr>
            <a:r>
              <a:t>In bitmap_raw: must re-prove ALL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~40 lemmas tied to impl Bitmap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97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5C9E"/>
                </a:solidFill>
                <a:latin typeface="Calibri"/>
              </a:defRPr>
            </a:pPr>
            <a:r>
              <a:t>② Weaker Preconditions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D2D2D"/>
                </a:solidFill>
                <a:latin typeface="Calibri"/>
              </a:defRPr>
            </a:pPr>
            <a:r>
              <a:t>Lemmas need wf(), not inv()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7D34"/>
                </a:solidFill>
                <a:latin typeface="Calibri"/>
              </a:defRPr>
            </a:pPr>
            <a:r>
              <a:t>wf() = ∀i ∈ set_bits → 0 ≤ i &lt; n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7D34"/>
                </a:solidFill>
                <a:latin typeface="Calibri"/>
              </a:defRPr>
            </a:pPr>
            <a:r>
              <a:t>Callable in intermediate states</a:t>
            </a:r>
          </a:p>
          <a:p>
            <a:pPr>
              <a:spcAft>
                <a:spcPts val="400"/>
              </a:spcAft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C0392B"/>
                </a:solidFill>
                <a:latin typeface="Calibri"/>
              </a:defRPr>
            </a:pPr>
            <a:r>
              <a:t>In bitmap_raw: need full inv()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Includes bytes, usage, next_free...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Can't call during bit modification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097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5C9E"/>
                </a:solidFill>
                <a:latin typeface="Calibri"/>
              </a:defRPr>
            </a:pPr>
            <a:r>
              <a:t>③ No Impedance Mismatch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46304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D2D2D"/>
                </a:solidFill>
                <a:latin typeface="Calibri"/>
              </a:defRPr>
            </a:pPr>
            <a:r>
              <a:t>is_bit_set: ONE definition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7D34"/>
                </a:solidFill>
                <a:latin typeface="Calibri"/>
              </a:defRPr>
            </a:pPr>
            <a:r>
              <a:t>= set_bits.contains(index)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7D34"/>
                </a:solidFill>
                <a:latin typeface="Calibri"/>
              </a:defRPr>
            </a:pPr>
            <a:r>
              <a:t>No bridging lemma needed</a:t>
            </a:r>
          </a:p>
          <a:p>
            <a:pPr>
              <a:spcAft>
                <a:spcPts val="400"/>
              </a:spcAft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C0392B"/>
                </a:solidFill>
                <a:latin typeface="Calibri"/>
              </a:defRPr>
            </a:pPr>
            <a:r>
              <a:t>In bitmap_raw: TWO definitions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Bitmap version bundles bounds check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Needs lemma_is_bit_set_equals_view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40480"/>
            <a:ext cx="3474720" cy="1645920"/>
          </a:xfrm>
          <a:prstGeom prst="rect">
            <a:avLst/>
          </a:prstGeom>
          <a:solidFill>
            <a:srgbClr val="F5F5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Lemma call site (raw)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3108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2A"/>
                </a:solidFill>
                <a:latin typeface="Consolas"/>
              </a:defRPr>
            </a:pPr>
            <a:r>
              <a:t>// bitmap_raw: call on Bitmap</a:t>
            </a:r>
            <a:br/>
            <a:r>
              <a:t>self.lemma_free_range_implies</a:t>
            </a:r>
            <a:br/>
            <a:r>
              <a:t>  _usage_bound(p, size);</a:t>
            </a:r>
            <a:br/>
            <a:br/>
            <a:r>
              <a:t>// Requires: self.inv() ← full</a:t>
            </a:r>
            <a:br/>
            <a:r>
              <a:t>//   concrete invariant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840480"/>
            <a:ext cx="3474720" cy="1645920"/>
          </a:xfrm>
          <a:prstGeom prst="rect">
            <a:avLst/>
          </a:prstGeom>
          <a:solidFill>
            <a:srgbClr val="F5F5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D34"/>
                </a:solidFill>
                <a:latin typeface="Calibri"/>
              </a:defRPr>
            </a:pPr>
            <a:r>
              <a:t>Lemma call site (new)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51960"/>
            <a:ext cx="3108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2A"/>
                </a:solidFill>
                <a:latin typeface="Consolas"/>
              </a:defRPr>
            </a:pPr>
            <a:r>
              <a:t>// bitmap_new: call on View</a:t>
            </a:r>
            <a:br/>
            <a:r>
              <a:t>self@.lemma_free_range_implies</a:t>
            </a:r>
            <a:br/>
            <a:r>
              <a:t>  _usage_bound(p, size);</a:t>
            </a:r>
            <a:br/>
            <a:br/>
            <a:r>
              <a:t>// Requires: self@.wf() ← pure</a:t>
            </a:r>
            <a:br/>
            <a:r>
              <a:t>//   set-theoretic constraint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840480"/>
            <a:ext cx="3474720" cy="1645920"/>
          </a:xfrm>
          <a:prstGeom prst="rect">
            <a:avLst/>
          </a:prstGeom>
          <a:solidFill>
            <a:srgbClr val="F5F5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6D"/>
                </a:solidFill>
                <a:latin typeface="Calibri"/>
              </a:defRPr>
            </a:pPr>
            <a:r>
              <a:t>Invariant structure (new)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251960"/>
            <a:ext cx="3108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2A"/>
                </a:solidFill>
                <a:latin typeface="Consolas"/>
              </a:defRPr>
            </a:pPr>
            <a:r>
              <a:t>// Open invariant → auto wf()</a:t>
            </a:r>
            <a:br/>
            <a:r>
              <a:t>pub open spec fn inv(&amp;self)</a:t>
            </a:r>
            <a:br/>
            <a:r>
              <a:t>  -&gt; bool {</a:t>
            </a:r>
            <a:br/>
            <a:r>
              <a:t>  &amp;&amp;&amp; self@.wf()    // visible!</a:t>
            </a:r>
            <a:br/>
            <a:r>
              <a:t>  &amp;&amp;&amp; self.internal_inv()</a:t>
            </a:r>
            <a:br/>
            <a: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Also:  ④ Composable set algebra (vstd directly usable)   ⑤ Physical proof stratification (spec vs proof files)   ⑥ SMT solver extracts wf() automatically from open inv()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6D"/>
                </a:solidFill>
                <a:latin typeface="Calibri"/>
              </a:defRPr>
            </a:pPr>
            <a:r>
              <a:t>Proof Architecture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5C9E"/>
                </a:solidFill>
                <a:latin typeface="Calibri"/>
              </a:defRPr>
            </a:pPr>
            <a:r>
              <a:t>Proof Stratification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4572000" cy="640080"/>
          </a:xfrm>
          <a:prstGeom prst="rect">
            <a:avLst/>
          </a:prstGeom>
          <a:solidFill>
            <a:srgbClr val="F2F2F7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66666"/>
                </a:solidFill>
                <a:latin typeface="Calibri"/>
              </a:defRPr>
            </a:pPr>
            <a:r>
              <a:t>Layer 3: Client Code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Interacts with BitmapView predicates + inv()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4572000" cy="640080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5C9E"/>
                </a:solidFill>
                <a:latin typeface="Calibri"/>
              </a:defRPr>
            </a:pPr>
            <a:r>
              <a:t>Layer 2: Representation Coupling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byte ops ↔ set_bits changes  (lib.proof.rs)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945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4572000" cy="640080"/>
          </a:xfrm>
          <a:prstGeom prst="rect">
            <a:avLst/>
          </a:prstGeom>
          <a:solidFill>
            <a:srgbClr val="F2F2F7"/>
          </a:solidFill>
          <a:ln w="19050">
            <a:solidFill>
              <a:srgbClr val="1E7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7D34"/>
                </a:solidFill>
                <a:latin typeface="Calibri"/>
              </a:defRPr>
            </a:pPr>
            <a:r>
              <a:t>Layer 1: Abstract Specification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set-theoretic properties  (lib.spec.rs)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71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86200"/>
            <a:ext cx="4572000" cy="640080"/>
          </a:xfrm>
          <a:prstGeom prst="rect">
            <a:avLst/>
          </a:prstGeom>
          <a:solidFill>
            <a:srgbClr val="F2F2F7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66666"/>
                </a:solidFill>
                <a:latin typeface="Calibri"/>
              </a:defRPr>
            </a:pPr>
            <a:r>
              <a:t>Layer 0: vstd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set_lib, set axioms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74903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5C9E"/>
                </a:solidFill>
                <a:latin typeface="Calibri"/>
              </a:defRPr>
            </a:pPr>
            <a:r>
              <a:t>Impact Summary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155448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645920"/>
              </a:tblGrid>
              <a:tr h="4000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7A6D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E8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7A6D"/>
                          </a:solidFill>
                          <a:latin typeface="Calibri"/>
                        </a:defRPr>
                      </a:pPr>
                      <a:r>
                        <a:t>raw</a:t>
                      </a:r>
                    </a:p>
                  </a:txBody>
                  <a:tcPr>
                    <a:solidFill>
                      <a:srgbClr val="E8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7A6D"/>
                          </a:solidFill>
                          <a:latin typeface="Calibri"/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E8E8F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Repr. change re-proves abstracts?</a:t>
                      </a:r>
                    </a:p>
                  </a:txBody>
                  <a:tcPr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7D34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7F7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Abstract lemma precondition</a:t>
                      </a:r>
                    </a:p>
                  </a:txBody>
                  <a:tcPr>
                    <a:solidFill>
                      <a:srgbClr val="EE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inv()</a:t>
                      </a:r>
                    </a:p>
                  </a:txBody>
                  <a:tcPr>
                    <a:solidFill>
                      <a:srgbClr val="EE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7D34"/>
                          </a:solidFill>
                          <a:latin typeface="Calibri"/>
                        </a:defRPr>
                      </a:pPr>
                      <a:r>
                        <a:t>wf()</a:t>
                      </a:r>
                    </a:p>
                  </a:txBody>
                  <a:tcPr>
                    <a:solidFill>
                      <a:srgbClr val="EEEE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is_bit_set definitions</a:t>
                      </a:r>
                    </a:p>
                  </a:txBody>
                  <a:tcPr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2 + bridge</a:t>
                      </a:r>
                    </a:p>
                  </a:txBody>
                  <a:tcPr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7D34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7F7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Hypothetical BitmapView in proofs?</a:t>
                      </a:r>
                    </a:p>
                  </a:txBody>
                  <a:tcPr>
                    <a:solidFill>
                      <a:srgbClr val="EE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E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7D34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EEE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vstd set_lib usage</a:t>
                      </a:r>
                    </a:p>
                  </a:txBody>
                  <a:tcPr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Wrapped</a:t>
                      </a:r>
                    </a:p>
                  </a:txBody>
                  <a:tcPr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7D34"/>
                          </a:solidFill>
                          <a:latin typeface="Calibri"/>
                        </a:defRPr>
                      </a:pPr>
                      <a:r>
                        <a:t>Direct</a:t>
                      </a:r>
                    </a:p>
                  </a:txBody>
                  <a:tcPr>
                    <a:solidFill>
                      <a:srgbClr val="F7F7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Proof boundary</a:t>
                      </a:r>
                    </a:p>
                  </a:txBody>
                  <a:tcPr>
                    <a:solidFill>
                      <a:srgbClr val="EE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>
                    <a:solidFill>
                      <a:srgbClr val="EE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7D34"/>
                          </a:solidFill>
                          <a:latin typeface="Calibri"/>
                        </a:defRPr>
                      </a:pPr>
                      <a:r>
                        <a:t>Separated</a:t>
                      </a:r>
                    </a:p>
                  </a:txBody>
                  <a:tcPr>
                    <a:solidFill>
                      <a:srgbClr val="EEEE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Proof lines (lib.proof.rs)</a:t>
                      </a:r>
                    </a:p>
                  </a:txBody>
                  <a:tcPr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1169</a:t>
                      </a:r>
                    </a:p>
                  </a:txBody>
                  <a:tcPr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7D34"/>
                          </a:solidFill>
                          <a:latin typeface="Calibri"/>
                        </a:defRPr>
                      </a:pPr>
                      <a:r>
                        <a:t>716 (−39%)</a:t>
                      </a:r>
                    </a:p>
                  </a:txBody>
                  <a:tcPr>
                    <a:solidFill>
                      <a:srgbClr val="F7F7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7A6D"/>
                </a:solidFill>
                <a:latin typeface="Calibri"/>
              </a:defRPr>
            </a:pPr>
            <a:r>
              <a:t>Bottom Line:  Separating what a bitmap means (a bounded set of integers)</a:t>
            </a:r>
            <a:br/>
            <a:r>
              <a:t>from how it's implemented (a byte array with bookkeeping)</a:t>
            </a:r>
            <a:br/>
            <a:r>
              <a:t>yields reusable proofs, better solver performance, and cleaner maintenance.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6D"/>
                </a:solidFill>
                <a:latin typeface="Calibri"/>
              </a:defRPr>
            </a:pPr>
            <a:r>
              <a:t>Improving Specs via Test Generation —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5C9E"/>
                </a:solidFill>
                <a:latin typeface="Calibri"/>
              </a:defRPr>
            </a:pPr>
            <a:r>
              <a:t>Goal:  Improve the correctness and completeness of specifications via test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Plans for VeruSage and Nanvix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6858000" cy="822960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762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822960" cy="274320"/>
          </a:xfrm>
          <a:prstGeom prst="rect">
            <a:avLst/>
          </a:prstGeom>
          <a:solidFill>
            <a:srgbClr val="26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4883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2D2D"/>
                </a:solidFill>
                <a:latin typeface="Calibri"/>
              </a:defRPr>
            </a:pPr>
            <a:r>
              <a:t>Build test execution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146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Set up infrastructure for running generated tests against Verus specs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63239"/>
            <a:ext cx="6858000" cy="822960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3639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154679"/>
            <a:ext cx="822960" cy="274320"/>
          </a:xfrm>
          <a:prstGeom prst="rect">
            <a:avLst/>
          </a:prstGeom>
          <a:solidFill>
            <a:srgbClr val="26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10895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2D2D"/>
                </a:solidFill>
                <a:latin typeface="Calibri"/>
              </a:defRPr>
            </a:pPr>
            <a:r>
              <a:t>Generate docstrings &amp; documents from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4747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Extract structured documentation from existing Nanvix code to guide LLM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59"/>
            <a:ext cx="6858000" cy="822960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9651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114799"/>
            <a:ext cx="822960" cy="274320"/>
          </a:xfrm>
          <a:prstGeom prst="rect">
            <a:avLst/>
          </a:prstGeom>
          <a:solidFill>
            <a:srgbClr val="26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06907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2D2D"/>
                </a:solidFill>
                <a:latin typeface="Calibri"/>
              </a:defRPr>
            </a:pPr>
            <a:r>
              <a:t>Generate specs and tests; use tests to evaluate specs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4348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LLMs produce candidate specifications + test suites; tests validate spec correctness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6D"/>
                </a:solidFill>
                <a:latin typeface="Calibri"/>
              </a:defRPr>
            </a:pPr>
            <a:r>
              <a:t>Optional / Future 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560320"/>
            <a:ext cx="3657600" cy="1097280"/>
          </a:xfrm>
          <a:prstGeom prst="rect">
            <a:avLst/>
          </a:prstGeom>
          <a:solidFill>
            <a:srgbClr val="F2F2F7"/>
          </a:solidFill>
          <a:ln w="12700">
            <a:solidFill>
              <a:srgbClr val="007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651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Rust library specification inference for Verus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Infer specs for std/external crates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840480"/>
            <a:ext cx="3657600" cy="1097280"/>
          </a:xfrm>
          <a:prstGeom prst="rect">
            <a:avLst/>
          </a:prstGeom>
          <a:solidFill>
            <a:srgbClr val="F2F2F7"/>
          </a:solidFill>
          <a:ln w="12700">
            <a:solidFill>
              <a:srgbClr val="007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931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Learn the abstract level during spec generation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Train LLMs to choose the right abstraction layer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e.g., BitmapView-level vs Bitmap-level specs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6D"/>
                </a:solidFill>
                <a:latin typeface="Calibri"/>
              </a:defRPr>
            </a:pPr>
            <a:r>
              <a:t>Why LLM-Generated Tests Can Improve Specs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5C9E"/>
                </a:solidFill>
                <a:latin typeface="Calibri"/>
              </a:defRPr>
            </a:pPr>
            <a:r>
              <a:t>Core Idea:  Leverage different LLMs to generate specs and tests independently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3474720"/>
          </a:xfrm>
          <a:prstGeom prst="rect">
            <a:avLst/>
          </a:prstGeom>
          <a:solidFill>
            <a:srgbClr val="F2F2F7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① Inconsistency Detection  (DeepTest)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LLM-A generates a specification</a:t>
            </a:r>
          </a:p>
          <a:p>
            <a:pPr>
              <a:spcAft>
                <a:spcPts val="4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LLM-B generates tests for the same function</a:t>
            </a:r>
          </a:p>
          <a:p>
            <a:pPr>
              <a:spcAft>
                <a:spcPts val="400"/>
              </a:spcAft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D2D2D"/>
                </a:solidFill>
                <a:latin typeface="Calibri"/>
              </a:defRPr>
            </a:pPr>
            <a:r>
              <a:t>If spec and tests are inconsistent: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C0392B"/>
                </a:solidFill>
                <a:latin typeface="Calibri"/>
              </a:defRPr>
            </a:pPr>
            <a:r>
              <a:t>→ At least one of them is incorrect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C0392B"/>
                </a:solidFill>
                <a:latin typeface="Calibri"/>
              </a:defRPr>
            </a:pPr>
            <a:r>
              <a:t>→ Pinpoints where the spec needs fixing</a:t>
            </a:r>
          </a:p>
          <a:p>
            <a:pPr>
              <a:spcAft>
                <a:spcPts val="400"/>
              </a:spcAft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7A6D"/>
                </a:solidFill>
                <a:latin typeface="Calibri"/>
              </a:defRPr>
            </a:pPr>
            <a:r>
              <a:t>Cross-validation without ground truth!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5C9E"/>
                </a:solidFill>
                <a:latin typeface="Consolas"/>
              </a:defRPr>
            </a:pPr>
            <a:r>
              <a:t>  LLM-A → Spec ─┐</a:t>
            </a:r>
            <a:br/>
            <a:r>
              <a:t>                 ├─ Compare → Find bugs</a:t>
            </a:r>
            <a:br/>
            <a:r>
              <a:t>  LLM-B → Tests ┘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03520" cy="3474720"/>
          </a:xfrm>
          <a:prstGeom prst="rect">
            <a:avLst/>
          </a:prstGeom>
          <a:solidFill>
            <a:srgbClr val="F2F2F7"/>
          </a:solidFill>
          <a:ln w="25400">
            <a:solidFill>
              <a:srgbClr val="1E7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7D34"/>
                </a:solidFill>
                <a:latin typeface="Calibri"/>
              </a:defRPr>
            </a:pPr>
            <a:r>
              <a:t>② Majority Voting + NL Round-Trip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Multiple LLMs generate test suites</a:t>
            </a:r>
          </a:p>
          <a:p>
            <a:pPr>
              <a:spcAft>
                <a:spcPts val="4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Majority voting: consensus = likely correct</a:t>
            </a:r>
          </a:p>
          <a:p>
            <a:pPr>
              <a:spcAft>
                <a:spcPts val="400"/>
              </a:spcAft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D2D2D"/>
                </a:solidFill>
                <a:latin typeface="Calibri"/>
              </a:defRPr>
            </a:pPr>
            <a:r>
              <a:t>NL round-trip validation: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1E7D34"/>
                </a:solidFill>
                <a:latin typeface="Calibri"/>
              </a:defRPr>
            </a:pPr>
            <a:r>
              <a:t>1. Start with NL description of behavior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1E7D34"/>
                </a:solidFill>
                <a:latin typeface="Calibri"/>
              </a:defRPr>
            </a:pPr>
            <a:r>
              <a:t>2. LLM generates test code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1E7D34"/>
                </a:solidFill>
                <a:latin typeface="Calibri"/>
              </a:defRPr>
            </a:pPr>
            <a:r>
              <a:t>3. Translate tests back to NL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1E7D34"/>
                </a:solidFill>
                <a:latin typeface="Calibri"/>
              </a:defRPr>
            </a:pPr>
            <a:r>
              <a:t>4. Compare to original NL description</a:t>
            </a:r>
          </a:p>
          <a:p>
            <a:pPr>
              <a:spcAft>
                <a:spcPts val="400"/>
              </a:spcAft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7A6D"/>
                </a:solidFill>
                <a:latin typeface="Calibri"/>
              </a:defRPr>
            </a:pPr>
            <a:r>
              <a:t>Semantic drift detection!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5C9E"/>
                </a:solidFill>
                <a:latin typeface="Consolas"/>
              </a:defRPr>
            </a:pPr>
            <a:r>
              <a:t>  NL desc → LLM → Tests → Back to NL</a:t>
            </a:r>
            <a:br/>
            <a:r>
              <a:t>    ↑                          ↓</a:t>
            </a:r>
            <a:br/>
            <a:r>
              <a:t>    └──── Compare for drift ───┘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7A6D"/>
                </a:solidFill>
                <a:latin typeface="Calibri"/>
              </a:defRPr>
            </a:pPr>
            <a:r>
              <a:t>Tests serve as an independent oracle — if they disagree with specs,</a:t>
            </a:r>
            <a:br/>
            <a:r>
              <a:t>we know where to look without manual inspection.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A6D"/>
                </a:solidFill>
                <a:latin typeface="Calibri"/>
              </a:defRPr>
            </a:pPr>
            <a:r>
              <a:t>Learning the Abstract Level During Spec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2103120"/>
          </a:xfrm>
          <a:prstGeom prst="rect">
            <a:avLst/>
          </a:prstGeom>
          <a:solidFill>
            <a:srgbClr val="F2F2F7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Challenge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The right abstract level is highly domain-specific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Bitmap: Set&lt;int&gt; vs raw byte array</a:t>
            </a:r>
          </a:p>
          <a:p>
            <a:pPr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File system: inode tree vs block layout</a:t>
            </a:r>
          </a:p>
          <a:p>
            <a:pPr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No universal rule — depends on verification goal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5029200" cy="2560320"/>
          </a:xfrm>
          <a:prstGeom prst="rect">
            <a:avLst/>
          </a:prstGeom>
          <a:solidFill>
            <a:srgbClr val="F2F2F7"/>
          </a:solidFill>
          <a:ln w="25400">
            <a:solidFill>
              <a:srgbClr val="1E7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7D34"/>
                </a:solidFill>
                <a:latin typeface="Calibri"/>
              </a:defRPr>
            </a:pPr>
            <a:r>
              <a:t>Plan 1:  Bottom-Up Abstraction with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Start: generate low-level spec (bitmap_raw style)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Iterate: LLM proposes abstraction lifts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7D34"/>
                </a:solidFill>
                <a:latin typeface="Calibri"/>
              </a:defRPr>
            </a:pPr>
            <a:r>
              <a:t>Move predicates from Bitmap → BitmapView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7D34"/>
                </a:solidFill>
                <a:latin typeface="Calibri"/>
              </a:defRPr>
            </a:pPr>
            <a:r>
              <a:t>Split inv() into open wf() + closed internal_inv()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Verify: Re-check proofs after each 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5C9E"/>
                </a:solidFill>
                <a:latin typeface="Consolas"/>
              </a:defRPr>
            </a:pPr>
            <a:r>
              <a:t>bitmap_raw  →  LLM refactor  →  bitmap_new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2103120"/>
          </a:xfrm>
          <a:prstGeom prst="rect">
            <a:avLst/>
          </a:prstGeom>
          <a:solidFill>
            <a:srgbClr val="F2F2F7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Challenge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Abstraction quality is difficult to 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"Is this the right abstraction?" — no automated metric</a:t>
            </a:r>
          </a:p>
          <a:p>
            <a:pPr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Proof size? Solver time? Reusability? All partial proxies</a:t>
            </a:r>
          </a:p>
          <a:p>
            <a:pPr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Human expert judgment is expensive and subjective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474720"/>
            <a:ext cx="5303520" cy="2560320"/>
          </a:xfrm>
          <a:prstGeom prst="rect">
            <a:avLst/>
          </a:prstGeom>
          <a:solidFill>
            <a:srgbClr val="F2F2F7"/>
          </a:solidFill>
          <a:ln w="25400">
            <a:solidFill>
              <a:srgbClr val="1E7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7D34"/>
                </a:solidFill>
                <a:latin typeface="Calibri"/>
              </a:defRPr>
            </a:pPr>
            <a:r>
              <a:t>Plan 2:  Start with Easy-to-Evaluate Domains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Data structures &amp; algorithms have clear specs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Well-studied abstractions (AutoCLRS benchmark)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265C9E"/>
                </a:solidFill>
                <a:latin typeface="Calibri"/>
              </a:defRPr>
            </a:pPr>
            <a:r>
              <a:t>risemsr.github.io/blog/2026-03-06-autoclrs/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Measurable: proof lines, solver time, reuse count</a:t>
            </a:r>
          </a:p>
          <a:p>
            <a:pPr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Then transfer learned patterns to OS-level (Nanvix)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7A6D"/>
                </a:solidFill>
                <a:latin typeface="Calibri"/>
              </a:defRPr>
            </a:pPr>
            <a:r>
              <a:t>Strategy: prove the approach on algorithms first, then scale to systems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